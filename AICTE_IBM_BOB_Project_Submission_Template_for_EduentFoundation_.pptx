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90" r:id="rId2"/>
    <p:sldId id="291" r:id="rId3"/>
    <p:sldId id="292" r:id="rId4"/>
    <p:sldId id="293" r:id="rId5"/>
    <p:sldId id="317" r:id="rId6"/>
    <p:sldId id="294" r:id="rId7"/>
    <p:sldId id="295" r:id="rId8"/>
    <p:sldId id="296" r:id="rId9"/>
    <p:sldId id="310" r:id="rId10"/>
    <p:sldId id="311" r:id="rId11"/>
    <p:sldId id="312" r:id="rId12"/>
    <p:sldId id="313" r:id="rId13"/>
    <p:sldId id="316" r:id="rId14"/>
    <p:sldId id="298" r:id="rId15"/>
    <p:sldId id="299" r:id="rId16"/>
    <p:sldId id="301" r:id="rId17"/>
    <p:sldId id="302" r:id="rId18"/>
    <p:sldId id="303" r:id="rId19"/>
    <p:sldId id="306" r:id="rId20"/>
    <p:sldId id="318" r:id="rId21"/>
    <p:sldId id="304" r:id="rId22"/>
    <p:sldId id="315" r:id="rId23"/>
    <p:sldId id="305" r:id="rId24"/>
    <p:sldId id="307" r:id="rId25"/>
    <p:sldId id="314" r:id="rId26"/>
    <p:sldId id="308" r:id="rId27"/>
    <p:sldId id="30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96" d="100"/>
          <a:sy n="96"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E1C0F14-DBDF-585A-E882-E2BF9647AFAD}"/>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7E6D42C4-06DC-AB21-7112-CEF37FBD57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54B99EC-4B17-0504-2C36-7D6C91B3C0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869041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D158B3-CBD8-B5E4-6B76-365327AB855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10A094C-68D7-7C06-1676-FE4856468B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9E3ED5FD-8C53-1F8E-D724-51F89F8FBB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210758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508F664-A613-C49E-6808-FC67C002D8D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7AA89D1-36B1-C3BD-0BE6-28C6BBF7E4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C720C9B-1798-C39A-D4BB-62F3C60E86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30632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E1412E85-19BE-A4D2-3A42-8118C838244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19DA990-6141-A1FE-8846-7567C53993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78ED0245-E9EA-4854-4BC6-4C85ED385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0894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010730D-B05E-5843-B75E-442772C5CBD3}"/>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B1B9E69-D5B7-1EDE-695B-8A72F215EE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C97573FA-7DA9-832E-211C-9E472EC40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76474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7358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99EC48D-986D-5759-BB30-643EB8E645D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8B9E3A1-6FB8-9155-61D2-ACE1911D3D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030ED18-5AAE-8953-2668-AE98C5E83A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687273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fontScale="90000"/>
          </a:bodyPr>
          <a:lstStyle/>
          <a:p>
            <a:pPr algn="ctr"/>
            <a:r>
              <a:rPr lang="en-US" sz="6600" b="1" dirty="0"/>
              <a:t>IBM Bob Gujarat State level Hackathon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680433" y="3648075"/>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9144146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BINIT SHAW</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binitb938@gmail.com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6289480810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a:t>Nutrition Agent</a:t>
            </a:r>
            <a:endParaRPr lang="en-IN" sz="2400" b="1" dirty="0">
              <a:highlight>
                <a:srgbClr val="FFFF00"/>
              </a:highlight>
            </a:endParaRPr>
          </a:p>
        </p:txBody>
      </p:sp>
      <p:pic>
        <p:nvPicPr>
          <p:cNvPr id="10" name="Picture 9">
            <a:extLst>
              <a:ext uri="{FF2B5EF4-FFF2-40B4-BE49-F238E27FC236}">
                <a16:creationId xmlns:a16="http://schemas.microsoft.com/office/drawing/2014/main" id="{423FF560-FE62-0BE5-FF61-2D6676790340}"/>
              </a:ext>
            </a:extLst>
          </p:cNvPr>
          <p:cNvPicPr>
            <a:picLocks noChangeAspect="1"/>
          </p:cNvPicPr>
          <p:nvPr/>
        </p:nvPicPr>
        <p:blipFill>
          <a:blip r:embed="rId3"/>
          <a:stretch>
            <a:fillRect/>
          </a:stretch>
        </p:blipFill>
        <p:spPr>
          <a:xfrm>
            <a:off x="4071773" y="3617844"/>
            <a:ext cx="651302" cy="1157870"/>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IN" b="1" dirty="0"/>
              <a:t>1. System Architecture</a:t>
            </a:r>
          </a:p>
          <a:p>
            <a:r>
              <a:rPr lang="en-IN" dirty="0"/>
              <a:t>A </a:t>
            </a:r>
            <a:r>
              <a:rPr lang="en-IN" b="1" dirty="0"/>
              <a:t>multi-agent framework</a:t>
            </a:r>
            <a:r>
              <a:rPr lang="en-IN" dirty="0"/>
              <a:t> will be designed, where each agent specializes in a specific nutrition-related task. These agents will collaborate to deliver personalized, real-time dietary guidance.</a:t>
            </a:r>
          </a:p>
          <a:p>
            <a:pPr lvl="0"/>
            <a:r>
              <a:rPr lang="en-IN" b="1" dirty="0"/>
              <a:t>Nutrition Knowledge Agent</a:t>
            </a:r>
            <a:endParaRPr lang="en-IN" dirty="0"/>
          </a:p>
          <a:p>
            <a:pPr lvl="1"/>
            <a:r>
              <a:rPr lang="en-IN" dirty="0"/>
              <a:t>Uses Retrieval-Augmented Generation (RAG) to fetch nutritional data from trusted sources (USDA, WHO, FSSAI).</a:t>
            </a:r>
          </a:p>
          <a:p>
            <a:pPr lvl="1"/>
            <a:r>
              <a:rPr lang="en-IN" dirty="0"/>
              <a:t>Summarizes food composition: calories, macros, vitamins, minerals.</a:t>
            </a:r>
          </a:p>
          <a:p>
            <a:pPr lvl="1"/>
            <a:r>
              <a:rPr lang="en-IN" dirty="0"/>
              <a:t>Provides contextual insights (e.g., “Bananas are rich in potassium, good for heart health”).</a:t>
            </a:r>
          </a:p>
          <a:p>
            <a:pPr lvl="0"/>
            <a:r>
              <a:rPr lang="en-IN" b="1" dirty="0"/>
              <a:t>Diet Recommendation Agent</a:t>
            </a:r>
            <a:endParaRPr lang="en-IN" dirty="0"/>
          </a:p>
          <a:p>
            <a:pPr lvl="1"/>
            <a:r>
              <a:rPr lang="en-IN" dirty="0"/>
              <a:t>Generates personalized diet plans based on:</a:t>
            </a:r>
          </a:p>
          <a:p>
            <a:pPr lvl="2"/>
            <a:r>
              <a:rPr lang="en-IN" dirty="0"/>
              <a:t>Age, gender, BMI, allergies, cultural preferences, fitness goals.</a:t>
            </a:r>
          </a:p>
          <a:p>
            <a:pPr lvl="2"/>
            <a:r>
              <a:rPr lang="en-IN" dirty="0"/>
              <a:t>Disease-specific needs (diabetes-friendly, heart-healthy, weight-loss).</a:t>
            </a:r>
          </a:p>
          <a:p>
            <a:pPr lvl="1"/>
            <a:r>
              <a:rPr lang="en-IN" dirty="0"/>
              <a:t>Uses reinforcement learning to refine recommendations based on user feedback.</a:t>
            </a:r>
          </a:p>
          <a:p>
            <a:pPr lvl="0"/>
            <a:r>
              <a:rPr lang="en-IN" b="1" dirty="0"/>
              <a:t>Health Advisory Agent</a:t>
            </a:r>
            <a:endParaRPr lang="en-IN" dirty="0"/>
          </a:p>
          <a:p>
            <a:pPr lvl="1"/>
            <a:r>
              <a:rPr lang="en-IN" dirty="0"/>
              <a:t>Focuses on preventive health.</a:t>
            </a:r>
          </a:p>
          <a:p>
            <a:pPr lvl="1"/>
            <a:r>
              <a:rPr lang="en-IN" dirty="0"/>
              <a:t>Suggests dietary modifications for chronic disease management.</a:t>
            </a:r>
          </a:p>
          <a:p>
            <a:pPr lvl="1"/>
            <a:r>
              <a:rPr lang="en-IN" dirty="0"/>
              <a:t>Provides alerts for nutrient deficiencies and lifestyle risks.</a:t>
            </a:r>
          </a:p>
          <a:p>
            <a:pPr lvl="0"/>
            <a:r>
              <a:rPr lang="en-IN" b="1" dirty="0"/>
              <a:t>Food Log &amp; Feedback Agent</a:t>
            </a:r>
            <a:endParaRPr lang="en-IN" dirty="0"/>
          </a:p>
          <a:p>
            <a:pPr lvl="1"/>
            <a:r>
              <a:rPr lang="en-IN" dirty="0"/>
              <a:t>Enables meal logging via text, image recognition, or voice input.</a:t>
            </a:r>
          </a:p>
          <a:p>
            <a:pPr lvl="1"/>
            <a:r>
              <a:rPr lang="en-IN" dirty="0"/>
              <a:t>Performs instant nutritional analysis (e.g., “Your lunch had 600 kcal, 20g protein, 15g fat”).</a:t>
            </a:r>
          </a:p>
          <a:p>
            <a:pPr lvl="1"/>
            <a:r>
              <a:rPr lang="en-IN" dirty="0"/>
              <a:t>Gives corrective feedback (“Consider adding </a:t>
            </a:r>
            <a:r>
              <a:rPr lang="en-IN" dirty="0" err="1"/>
              <a:t>fiber</a:t>
            </a:r>
            <a:r>
              <a:rPr lang="en-IN" dirty="0"/>
              <a:t> to balance your meal”).</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577A80-DEA6-402A-D616-E6734C383C2D}"/>
              </a:ext>
            </a:extLst>
          </p:cNvPr>
          <p:cNvSpPr txBox="1"/>
          <p:nvPr/>
        </p:nvSpPr>
        <p:spPr>
          <a:xfrm>
            <a:off x="318052" y="191419"/>
            <a:ext cx="10925092" cy="6555641"/>
          </a:xfrm>
          <a:prstGeom prst="rect">
            <a:avLst/>
          </a:prstGeom>
          <a:noFill/>
        </p:spPr>
        <p:txBody>
          <a:bodyPr wrap="square">
            <a:spAutoFit/>
          </a:bodyPr>
          <a:lstStyle/>
          <a:p>
            <a:pPr>
              <a:buNone/>
            </a:pPr>
            <a:r>
              <a:rPr lang="en-IN" b="1" dirty="0"/>
              <a:t>2. Core Features</a:t>
            </a:r>
          </a:p>
          <a:p>
            <a:pPr marL="342900" lvl="0" indent="-342900">
              <a:buFont typeface="Arial" panose="020B0604020202020204" pitchFamily="34" charset="0"/>
              <a:buChar char="•"/>
            </a:pPr>
            <a:r>
              <a:rPr lang="en-IN" b="1" dirty="0">
                <a:effectLst/>
              </a:rPr>
              <a:t>Personalized Diet Plans</a:t>
            </a:r>
            <a:r>
              <a:rPr lang="en-IN" dirty="0">
                <a:effectLst/>
              </a:rPr>
              <a:t> 🥗 Tailored recommendations for individuals, families, and professionals.</a:t>
            </a:r>
            <a:endParaRPr lang="en-IN" dirty="0"/>
          </a:p>
          <a:p>
            <a:pPr marL="342900" lvl="0" indent="-342900">
              <a:buFont typeface="Arial" panose="020B0604020202020204" pitchFamily="34" charset="0"/>
              <a:buChar char="•"/>
            </a:pPr>
            <a:r>
              <a:rPr lang="en-IN" b="1" dirty="0">
                <a:effectLst/>
              </a:rPr>
              <a:t>Food Data RAG Retrieval</a:t>
            </a:r>
            <a:r>
              <a:rPr lang="en-IN" dirty="0">
                <a:effectLst/>
              </a:rPr>
              <a:t> 📊 Reliable nutritional data fetched and summarized in real-time.</a:t>
            </a:r>
            <a:endParaRPr lang="en-IN" dirty="0"/>
          </a:p>
          <a:p>
            <a:pPr marL="342900" lvl="0" indent="-342900">
              <a:buFont typeface="Arial" panose="020B0604020202020204" pitchFamily="34" charset="0"/>
              <a:buChar char="•"/>
            </a:pPr>
            <a:r>
              <a:rPr lang="en-IN" b="1" dirty="0">
                <a:effectLst/>
              </a:rPr>
              <a:t>Diet Tracking &amp; Feedback</a:t>
            </a:r>
            <a:r>
              <a:rPr lang="en-IN" dirty="0">
                <a:effectLst/>
              </a:rPr>
              <a:t> 📱 Multi-modal input (text, image, voice) for meal logging and instant analysis.</a:t>
            </a:r>
            <a:endParaRPr lang="en-IN" dirty="0"/>
          </a:p>
          <a:p>
            <a:pPr marL="342900" lvl="0" indent="-342900">
              <a:buFont typeface="Arial" panose="020B0604020202020204" pitchFamily="34" charset="0"/>
              <a:buChar char="•"/>
            </a:pPr>
            <a:r>
              <a:rPr lang="en-IN" b="1" dirty="0">
                <a:effectLst/>
              </a:rPr>
              <a:t>Preventive Health Focus</a:t>
            </a:r>
            <a:r>
              <a:rPr lang="en-IN" dirty="0">
                <a:effectLst/>
              </a:rPr>
              <a:t> ❤️ Chronic disease–specific diet suggestions and proactive alerts.</a:t>
            </a:r>
            <a:endParaRPr lang="en-IN" dirty="0"/>
          </a:p>
          <a:p>
            <a:pPr marL="342900" lvl="0" indent="-342900">
              <a:buFont typeface="Arial" panose="020B0604020202020204" pitchFamily="34" charset="0"/>
              <a:buChar char="•"/>
            </a:pPr>
            <a:r>
              <a:rPr lang="en-IN" b="1" dirty="0">
                <a:effectLst/>
              </a:rPr>
              <a:t>Visualization Dashboard</a:t>
            </a:r>
            <a:r>
              <a:rPr lang="en-IN" dirty="0">
                <a:effectLst/>
              </a:rPr>
              <a:t> 📈</a:t>
            </a:r>
            <a:endParaRPr lang="en-IN" dirty="0"/>
          </a:p>
          <a:p>
            <a:pPr marL="742950" lvl="1" indent="-285750">
              <a:buFont typeface="Arial" panose="020B0604020202020204" pitchFamily="34" charset="0"/>
              <a:buChar char="•"/>
            </a:pPr>
            <a:r>
              <a:rPr lang="en-IN" dirty="0">
                <a:effectLst/>
              </a:rPr>
              <a:t>Daily/weekly nutrient intake charts.</a:t>
            </a:r>
            <a:endParaRPr lang="en-IN" dirty="0"/>
          </a:p>
          <a:p>
            <a:pPr marL="742950" lvl="1" indent="-285750">
              <a:buFont typeface="Arial" panose="020B0604020202020204" pitchFamily="34" charset="0"/>
              <a:buChar char="•"/>
            </a:pPr>
            <a:r>
              <a:rPr lang="en-IN" dirty="0">
                <a:effectLst/>
              </a:rPr>
              <a:t>Deficiency alerts (e.g., “Low Vitamin D this week”).</a:t>
            </a:r>
            <a:endParaRPr lang="en-IN" dirty="0"/>
          </a:p>
          <a:p>
            <a:pPr marL="742950" lvl="1" indent="-285750">
              <a:buFont typeface="Arial" panose="020B0604020202020204" pitchFamily="34" charset="0"/>
              <a:buChar char="•"/>
            </a:pPr>
            <a:r>
              <a:rPr lang="en-IN" dirty="0">
                <a:effectLst/>
              </a:rPr>
              <a:t>Progress tracking toward fitness/health goals.</a:t>
            </a:r>
          </a:p>
          <a:p>
            <a:r>
              <a:rPr lang="en-IN" b="1" dirty="0"/>
              <a:t>3. Technical Implementation</a:t>
            </a:r>
          </a:p>
          <a:p>
            <a:pPr lvl="0"/>
            <a:r>
              <a:rPr lang="en-IN" b="1" dirty="0"/>
              <a:t>Data Layer</a:t>
            </a:r>
            <a:r>
              <a:rPr lang="en-IN" dirty="0"/>
              <a:t>:</a:t>
            </a:r>
          </a:p>
          <a:p>
            <a:pPr lvl="1"/>
            <a:r>
              <a:rPr lang="en-IN" dirty="0"/>
              <a:t>Food composition databases (USDA, FSSAI, WHO).</a:t>
            </a:r>
          </a:p>
          <a:p>
            <a:pPr lvl="1"/>
            <a:r>
              <a:rPr lang="en-IN" dirty="0"/>
              <a:t>Disease-specific nutrition guidelines.</a:t>
            </a:r>
          </a:p>
          <a:p>
            <a:pPr lvl="0"/>
            <a:r>
              <a:rPr lang="en-IN" b="1" dirty="0"/>
              <a:t>AI Layer</a:t>
            </a:r>
            <a:r>
              <a:rPr lang="en-IN" dirty="0"/>
              <a:t>:</a:t>
            </a:r>
          </a:p>
          <a:p>
            <a:pPr lvl="1"/>
            <a:r>
              <a:rPr lang="en-IN" dirty="0"/>
              <a:t>NLP for text-based queries.</a:t>
            </a:r>
          </a:p>
          <a:p>
            <a:pPr lvl="1"/>
            <a:r>
              <a:rPr lang="en-IN" dirty="0"/>
              <a:t>Computer Vision for food image recognition.</a:t>
            </a:r>
          </a:p>
          <a:p>
            <a:pPr lvl="1"/>
            <a:r>
              <a:rPr lang="en-IN" dirty="0"/>
              <a:t>Speech-to-text for voice-based logging.</a:t>
            </a:r>
          </a:p>
          <a:p>
            <a:pPr lvl="1"/>
            <a:r>
              <a:rPr lang="en-IN" dirty="0"/>
              <a:t>RAG for reliable nutritional data retrieval.</a:t>
            </a:r>
          </a:p>
          <a:p>
            <a:pPr lvl="0"/>
            <a:r>
              <a:rPr lang="en-IN" b="1" dirty="0"/>
              <a:t>Integration Layer</a:t>
            </a:r>
            <a:r>
              <a:rPr lang="en-IN" dirty="0"/>
              <a:t>:</a:t>
            </a:r>
          </a:p>
          <a:p>
            <a:pPr lvl="1"/>
            <a:r>
              <a:rPr lang="en-IN" dirty="0"/>
              <a:t>APIs for fitness trackers, wearables, and health apps.</a:t>
            </a:r>
          </a:p>
          <a:p>
            <a:pPr lvl="1"/>
            <a:r>
              <a:rPr lang="en-IN" dirty="0"/>
              <a:t>Secure storage with compliance (HIPAA/GDPR).</a:t>
            </a:r>
          </a:p>
          <a:p>
            <a:pPr lvl="0"/>
            <a:r>
              <a:rPr lang="en-IN" b="1" dirty="0"/>
              <a:t>Visualization Layer</a:t>
            </a:r>
            <a:r>
              <a:rPr lang="en-IN" dirty="0"/>
              <a:t>:</a:t>
            </a:r>
          </a:p>
          <a:p>
            <a:pPr lvl="1"/>
            <a:r>
              <a:rPr lang="en-IN" dirty="0"/>
              <a:t>Interactive dashboards (Power BI / custom web app).</a:t>
            </a:r>
          </a:p>
          <a:p>
            <a:pPr lvl="1"/>
            <a:r>
              <a:rPr lang="en-IN" dirty="0"/>
              <a:t>Nutrient breakdowns, progress charts, and recommendations</a:t>
            </a:r>
          </a:p>
          <a:p>
            <a:r>
              <a:rPr lang="en-IN" b="1" dirty="0"/>
              <a:t>4. Expected Outcomes</a:t>
            </a:r>
          </a:p>
          <a:p>
            <a:pPr lvl="0"/>
            <a:r>
              <a:rPr lang="en-IN" dirty="0"/>
              <a:t>Improved dietary awareness and adherence.</a:t>
            </a:r>
          </a:p>
          <a:p>
            <a:pPr lvl="0"/>
            <a:r>
              <a:rPr lang="en-IN" dirty="0"/>
              <a:t>Reduced risk of chronic diseases through preventive nutrition.</a:t>
            </a:r>
          </a:p>
          <a:p>
            <a:pPr lvl="0"/>
            <a:r>
              <a:rPr lang="en-IN" dirty="0"/>
              <a:t>Empowerment of individuals and health professionals with reliable, personalized insights.</a:t>
            </a:r>
          </a:p>
          <a:p>
            <a:pPr lvl="0"/>
            <a:r>
              <a:rPr lang="en-IN" dirty="0"/>
              <a:t>Centralized, trustworthy nutrition guidance replacing scattered sources.</a:t>
            </a:r>
          </a:p>
          <a:p>
            <a:pPr lvl="1"/>
            <a:endParaRPr lang="en-IN" dirty="0"/>
          </a:p>
        </p:txBody>
      </p:sp>
    </p:spTree>
    <p:extLst>
      <p:ext uri="{BB962C8B-B14F-4D97-AF65-F5344CB8AC3E}">
        <p14:creationId xmlns:p14="http://schemas.microsoft.com/office/powerpoint/2010/main" val="1156674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570208"/>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C24DE72-1A58-F9DC-E20F-5F9EC6901B2D}"/>
              </a:ext>
            </a:extLst>
          </p:cNvPr>
          <p:cNvPicPr>
            <a:picLocks noChangeAspect="1"/>
          </p:cNvPicPr>
          <p:nvPr/>
        </p:nvPicPr>
        <p:blipFill>
          <a:blip r:embed="rId3"/>
          <a:stretch>
            <a:fillRect/>
          </a:stretch>
        </p:blipFill>
        <p:spPr>
          <a:xfrm>
            <a:off x="609599" y="1065474"/>
            <a:ext cx="10972801" cy="5792525"/>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6513A8B2-BC7A-ACDF-3CA7-71B610A76F66}"/>
              </a:ext>
            </a:extLst>
          </p:cNvPr>
          <p:cNvPicPr>
            <a:picLocks noChangeAspect="1"/>
          </p:cNvPicPr>
          <p:nvPr/>
        </p:nvPicPr>
        <p:blipFill>
          <a:blip r:embed="rId3"/>
          <a:stretch>
            <a:fillRect/>
          </a:stretch>
        </p:blipFill>
        <p:spPr>
          <a:xfrm>
            <a:off x="609599" y="978010"/>
            <a:ext cx="10972801" cy="587999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AF7A05F8-6C8B-A51B-B050-0E9212E8B1F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AAB01743-CD2D-F92D-BF92-DF9E50E45548}"/>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43EF288-CCA9-2BE3-C952-5CB7A18D5D4B}"/>
              </a:ext>
            </a:extLst>
          </p:cNvPr>
          <p:cNvPicPr>
            <a:picLocks noChangeAspect="1"/>
          </p:cNvPicPr>
          <p:nvPr/>
        </p:nvPicPr>
        <p:blipFill>
          <a:blip r:embed="rId3"/>
          <a:stretch>
            <a:fillRect/>
          </a:stretch>
        </p:blipFill>
        <p:spPr>
          <a:xfrm>
            <a:off x="609599" y="874642"/>
            <a:ext cx="10972801" cy="5983357"/>
          </a:xfrm>
          <a:prstGeom prst="rect">
            <a:avLst/>
          </a:prstGeom>
        </p:spPr>
      </p:pic>
    </p:spTree>
    <p:extLst>
      <p:ext uri="{BB962C8B-B14F-4D97-AF65-F5344CB8AC3E}">
        <p14:creationId xmlns:p14="http://schemas.microsoft.com/office/powerpoint/2010/main" val="139948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EC248B62-90B0-31EF-B033-CE55CB37693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99445627-361C-FF92-A0E9-D6EFBDBAF34E}"/>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20567729-6CE2-4667-F8AE-CC3F988257BA}"/>
              </a:ext>
            </a:extLst>
          </p:cNvPr>
          <p:cNvPicPr>
            <a:picLocks noChangeAspect="1"/>
          </p:cNvPicPr>
          <p:nvPr/>
        </p:nvPicPr>
        <p:blipFill>
          <a:blip r:embed="rId3"/>
          <a:stretch>
            <a:fillRect/>
          </a:stretch>
        </p:blipFill>
        <p:spPr>
          <a:xfrm>
            <a:off x="609599" y="1296062"/>
            <a:ext cx="10972801" cy="5561937"/>
          </a:xfrm>
          <a:prstGeom prst="rect">
            <a:avLst/>
          </a:prstGeom>
        </p:spPr>
      </p:pic>
    </p:spTree>
    <p:extLst>
      <p:ext uri="{BB962C8B-B14F-4D97-AF65-F5344CB8AC3E}">
        <p14:creationId xmlns:p14="http://schemas.microsoft.com/office/powerpoint/2010/main" val="3929110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B39EB1CD-538A-7DBD-F4E9-052D9D7D4303}"/>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E349D72E-AB17-BA23-03A8-4F38FE7B6316}"/>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ADAEAB7E-08BA-F796-4416-75107005394F}"/>
              </a:ext>
            </a:extLst>
          </p:cNvPr>
          <p:cNvPicPr>
            <a:picLocks noChangeAspect="1"/>
          </p:cNvPicPr>
          <p:nvPr/>
        </p:nvPicPr>
        <p:blipFill>
          <a:blip r:embed="rId3"/>
          <a:stretch>
            <a:fillRect/>
          </a:stretch>
        </p:blipFill>
        <p:spPr>
          <a:xfrm>
            <a:off x="609599" y="1105230"/>
            <a:ext cx="10972801" cy="5752769"/>
          </a:xfrm>
          <a:prstGeom prst="rect">
            <a:avLst/>
          </a:prstGeom>
        </p:spPr>
      </p:pic>
    </p:spTree>
    <p:extLst>
      <p:ext uri="{BB962C8B-B14F-4D97-AF65-F5344CB8AC3E}">
        <p14:creationId xmlns:p14="http://schemas.microsoft.com/office/powerpoint/2010/main" val="53547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3221D92-1044-08AB-7B31-E72C3F63DB10}"/>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28B03A33-D1CB-E189-2BFF-63C16430879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68B12F21-3EFC-6482-FD54-91E73C5A7814}"/>
              </a:ext>
            </a:extLst>
          </p:cNvPr>
          <p:cNvPicPr>
            <a:picLocks noChangeAspect="1"/>
          </p:cNvPicPr>
          <p:nvPr/>
        </p:nvPicPr>
        <p:blipFill>
          <a:blip r:embed="rId3"/>
          <a:stretch>
            <a:fillRect/>
          </a:stretch>
        </p:blipFill>
        <p:spPr>
          <a:xfrm>
            <a:off x="609599" y="1025718"/>
            <a:ext cx="10972801" cy="5832282"/>
          </a:xfrm>
          <a:prstGeom prst="rect">
            <a:avLst/>
          </a:prstGeom>
        </p:spPr>
      </p:pic>
    </p:spTree>
    <p:extLst>
      <p:ext uri="{BB962C8B-B14F-4D97-AF65-F5344CB8AC3E}">
        <p14:creationId xmlns:p14="http://schemas.microsoft.com/office/powerpoint/2010/main" val="2428633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7F7BFD7F-A5BE-424E-04E4-955393FB45D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84A94F7B-91E0-E5F0-4040-54299340996D}"/>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E279406-495D-BB76-FC3E-54A6D739798E}"/>
              </a:ext>
            </a:extLst>
          </p:cNvPr>
          <p:cNvPicPr>
            <a:picLocks noChangeAspect="1"/>
          </p:cNvPicPr>
          <p:nvPr/>
        </p:nvPicPr>
        <p:blipFill>
          <a:blip r:embed="rId3"/>
          <a:stretch>
            <a:fillRect/>
          </a:stretch>
        </p:blipFill>
        <p:spPr>
          <a:xfrm>
            <a:off x="609599" y="1232452"/>
            <a:ext cx="10972801" cy="5625548"/>
          </a:xfrm>
          <a:prstGeom prst="rect">
            <a:avLst/>
          </a:prstGeom>
        </p:spPr>
      </p:pic>
    </p:spTree>
    <p:extLst>
      <p:ext uri="{BB962C8B-B14F-4D97-AF65-F5344CB8AC3E}">
        <p14:creationId xmlns:p14="http://schemas.microsoft.com/office/powerpoint/2010/main" val="404500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26627C96-8DDB-D13B-9F6E-0C19C0D45A8B}"/>
              </a:ext>
            </a:extLst>
          </p:cNvPr>
          <p:cNvPicPr>
            <a:picLocks noChangeAspect="1"/>
          </p:cNvPicPr>
          <p:nvPr/>
        </p:nvPicPr>
        <p:blipFill>
          <a:blip r:embed="rId3"/>
          <a:stretch>
            <a:fillRect/>
          </a:stretch>
        </p:blipFill>
        <p:spPr>
          <a:xfrm>
            <a:off x="628153" y="898497"/>
            <a:ext cx="10980751" cy="5812403"/>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259D104A-C1C8-11F5-4A9F-DD336104715F}"/>
              </a:ext>
            </a:extLst>
          </p:cNvPr>
          <p:cNvPicPr>
            <a:picLocks noChangeAspect="1"/>
          </p:cNvPicPr>
          <p:nvPr/>
        </p:nvPicPr>
        <p:blipFill>
          <a:blip r:embed="rId3"/>
          <a:stretch>
            <a:fillRect/>
          </a:stretch>
        </p:blipFill>
        <p:spPr>
          <a:xfrm>
            <a:off x="609599" y="715616"/>
            <a:ext cx="10972801" cy="6142383"/>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3B9CDF30-1DFD-1A97-2D29-92E2B00A99A5}"/>
              </a:ext>
            </a:extLst>
          </p:cNvPr>
          <p:cNvPicPr>
            <a:picLocks noChangeAspect="1"/>
          </p:cNvPicPr>
          <p:nvPr/>
        </p:nvPicPr>
        <p:blipFill>
          <a:blip r:embed="rId3"/>
          <a:stretch>
            <a:fillRect/>
          </a:stretch>
        </p:blipFill>
        <p:spPr>
          <a:xfrm>
            <a:off x="609599" y="816976"/>
            <a:ext cx="10972801" cy="6041023"/>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B5967F9-4727-112A-874F-6EF021EDFF89}"/>
              </a:ext>
            </a:extLst>
          </p:cNvPr>
          <p:cNvPicPr>
            <a:picLocks noChangeAspect="1"/>
          </p:cNvPicPr>
          <p:nvPr/>
        </p:nvPicPr>
        <p:blipFill>
          <a:blip r:embed="rId3"/>
          <a:stretch>
            <a:fillRect/>
          </a:stretch>
        </p:blipFill>
        <p:spPr>
          <a:xfrm>
            <a:off x="609599" y="914400"/>
            <a:ext cx="10972801" cy="594360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461640" y="517698"/>
            <a:ext cx="6444496" cy="704017"/>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The Wow Factor Behind Your Project</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FD03148-B749-17B9-0B1B-E41FBD2CA29B}"/>
              </a:ext>
            </a:extLst>
          </p:cNvPr>
          <p:cNvSpPr txBox="1"/>
          <p:nvPr/>
        </p:nvSpPr>
        <p:spPr>
          <a:xfrm>
            <a:off x="368412" y="1111750"/>
            <a:ext cx="11823588" cy="5262979"/>
          </a:xfrm>
          <a:prstGeom prst="rect">
            <a:avLst/>
          </a:prstGeom>
          <a:noFill/>
        </p:spPr>
        <p:txBody>
          <a:bodyPr wrap="square">
            <a:spAutoFit/>
          </a:bodyPr>
          <a:lstStyle/>
          <a:p>
            <a:pPr>
              <a:buNone/>
            </a:pPr>
            <a:r>
              <a:rPr lang="en-IN" b="1" dirty="0"/>
              <a:t>1. Truly Personalized Nutrition</a:t>
            </a:r>
          </a:p>
          <a:p>
            <a:pPr marL="342900" lvl="0" indent="-342900">
              <a:buFont typeface="Arial" panose="020B0604020202020204" pitchFamily="34" charset="0"/>
              <a:buChar char="•"/>
            </a:pPr>
            <a:r>
              <a:rPr lang="en-IN" dirty="0">
                <a:effectLst/>
              </a:rPr>
              <a:t>Goes beyond generic diet charts — adapts to </a:t>
            </a:r>
            <a:r>
              <a:rPr lang="en-IN" b="1" dirty="0">
                <a:effectLst/>
              </a:rPr>
              <a:t>age, health conditions, allergies, cultural preferences, and fitness goals</a:t>
            </a:r>
            <a:r>
              <a:rPr lang="en-IN" dirty="0">
                <a:effectLst/>
              </a:rPr>
              <a:t>.</a:t>
            </a:r>
            <a:endParaRPr lang="en-IN" dirty="0"/>
          </a:p>
          <a:p>
            <a:pPr marL="342900" lvl="0" indent="-342900">
              <a:buFont typeface="Arial" panose="020B0604020202020204" pitchFamily="34" charset="0"/>
              <a:buChar char="•"/>
            </a:pPr>
            <a:r>
              <a:rPr lang="en-IN" dirty="0">
                <a:effectLst/>
              </a:rPr>
              <a:t>Dynamic personalization ensures no two users get the same plan, making it feel like a </a:t>
            </a:r>
            <a:r>
              <a:rPr lang="en-IN" b="1" dirty="0">
                <a:effectLst/>
              </a:rPr>
              <a:t>personal nutritionist in your pocket</a:t>
            </a:r>
            <a:r>
              <a:rPr lang="en-IN" dirty="0">
                <a:effectLst/>
              </a:rPr>
              <a:t>.</a:t>
            </a:r>
            <a:endParaRPr lang="en-IN" dirty="0"/>
          </a:p>
          <a:p>
            <a:pPr>
              <a:buNone/>
            </a:pPr>
            <a:r>
              <a:rPr lang="en-IN" b="1" dirty="0"/>
              <a:t>2. Multi-Agent Intelligence</a:t>
            </a:r>
          </a:p>
          <a:p>
            <a:pPr marL="342900" lvl="0" indent="-342900">
              <a:buFont typeface="Arial" panose="020B0604020202020204" pitchFamily="34" charset="0"/>
              <a:buChar char="•"/>
            </a:pPr>
            <a:r>
              <a:rPr lang="en-IN" dirty="0">
                <a:effectLst/>
              </a:rPr>
              <a:t>Instead of a single monolithic system, you’ve designed a </a:t>
            </a:r>
            <a:r>
              <a:rPr lang="en-IN" b="1" dirty="0">
                <a:effectLst/>
              </a:rPr>
              <a:t>collaborative multi-agent ecosystem</a:t>
            </a:r>
            <a:r>
              <a:rPr lang="en-IN" dirty="0">
                <a:effectLst/>
              </a:rPr>
              <a:t>:</a:t>
            </a:r>
            <a:endParaRPr lang="en-IN" dirty="0"/>
          </a:p>
          <a:p>
            <a:pPr marL="742950" lvl="1" indent="-285750">
              <a:buFont typeface="Arial" panose="020B0604020202020204" pitchFamily="34" charset="0"/>
              <a:buChar char="•"/>
            </a:pPr>
            <a:r>
              <a:rPr lang="en-IN" dirty="0">
                <a:effectLst/>
              </a:rPr>
              <a:t>Knowledge Agent for reliable food data.</a:t>
            </a:r>
            <a:endParaRPr lang="en-IN" dirty="0"/>
          </a:p>
          <a:p>
            <a:pPr marL="742950" lvl="1" indent="-285750">
              <a:buFont typeface="Arial" panose="020B0604020202020204" pitchFamily="34" charset="0"/>
              <a:buChar char="•"/>
            </a:pPr>
            <a:r>
              <a:rPr lang="en-IN" dirty="0">
                <a:effectLst/>
              </a:rPr>
              <a:t>Recommendation Agent for tailored diets.</a:t>
            </a:r>
            <a:endParaRPr lang="en-IN" dirty="0"/>
          </a:p>
          <a:p>
            <a:pPr marL="742950" lvl="1" indent="-285750">
              <a:buFont typeface="Arial" panose="020B0604020202020204" pitchFamily="34" charset="0"/>
              <a:buChar char="•"/>
            </a:pPr>
            <a:r>
              <a:rPr lang="en-IN" dirty="0">
                <a:effectLst/>
              </a:rPr>
              <a:t>Health Advisory Agent for preventive care.</a:t>
            </a:r>
            <a:endParaRPr lang="en-IN" dirty="0"/>
          </a:p>
          <a:p>
            <a:pPr marL="742950" lvl="1" indent="-285750">
              <a:buFont typeface="Arial" panose="020B0604020202020204" pitchFamily="34" charset="0"/>
              <a:buChar char="•"/>
            </a:pPr>
            <a:r>
              <a:rPr lang="en-IN" dirty="0">
                <a:effectLst/>
              </a:rPr>
              <a:t>Food Log &amp; Feedback Agent for real-time analysis.</a:t>
            </a:r>
            <a:endParaRPr lang="en-IN" dirty="0"/>
          </a:p>
          <a:p>
            <a:r>
              <a:rPr lang="en-IN" dirty="0">
                <a:effectLst/>
              </a:rPr>
              <a:t>This modularity makes the system </a:t>
            </a:r>
            <a:r>
              <a:rPr lang="en-IN" b="1" dirty="0">
                <a:effectLst/>
              </a:rPr>
              <a:t>scalable, flexible, and future-ready</a:t>
            </a:r>
          </a:p>
          <a:p>
            <a:r>
              <a:rPr lang="en-IN" b="1" dirty="0"/>
              <a:t>3. Multi-Modal Interaction</a:t>
            </a:r>
          </a:p>
          <a:p>
            <a:pPr lvl="0"/>
            <a:r>
              <a:rPr lang="en-IN" dirty="0"/>
              <a:t>Users can log meals via </a:t>
            </a:r>
            <a:r>
              <a:rPr lang="en-IN" b="1" dirty="0"/>
              <a:t>text, images, or voice</a:t>
            </a:r>
            <a:r>
              <a:rPr lang="en-IN" dirty="0"/>
              <a:t>.</a:t>
            </a:r>
          </a:p>
          <a:p>
            <a:pPr lvl="0"/>
            <a:r>
              <a:rPr lang="en-IN" dirty="0"/>
              <a:t>AI-powered food recognition from images makes tracking effortless — no tedious manual entry.</a:t>
            </a:r>
          </a:p>
          <a:p>
            <a:pPr lvl="0"/>
            <a:r>
              <a:rPr lang="en-IN" dirty="0"/>
              <a:t>Voice input adds accessibility for elderly or visually impaired users.</a:t>
            </a:r>
          </a:p>
          <a:p>
            <a:r>
              <a:rPr lang="en-IN" b="1" dirty="0"/>
              <a:t>4. Preventive Health Integration</a:t>
            </a:r>
          </a:p>
          <a:p>
            <a:pPr lvl="0"/>
            <a:r>
              <a:rPr lang="en-IN" dirty="0"/>
              <a:t>Not just about calories — it actively helps manage </a:t>
            </a:r>
            <a:r>
              <a:rPr lang="en-IN" b="1" dirty="0"/>
              <a:t>chronic diseases</a:t>
            </a:r>
            <a:r>
              <a:rPr lang="en-IN" dirty="0"/>
              <a:t> (diabetes, hypertension, heart health).</a:t>
            </a:r>
          </a:p>
          <a:p>
            <a:pPr lvl="0"/>
            <a:r>
              <a:rPr lang="en-IN" dirty="0"/>
              <a:t>Provides </a:t>
            </a:r>
            <a:r>
              <a:rPr lang="en-IN" b="1" dirty="0"/>
              <a:t>alerts for deficiencies</a:t>
            </a:r>
            <a:r>
              <a:rPr lang="en-IN" dirty="0"/>
              <a:t> and proactive suggestions, shifting focus from treatment to </a:t>
            </a:r>
            <a:r>
              <a:rPr lang="en-IN" b="1" dirty="0"/>
              <a:t>prevention</a:t>
            </a:r>
            <a:r>
              <a:rPr lang="en-IN" dirty="0"/>
              <a:t>.</a:t>
            </a:r>
          </a:p>
          <a:p>
            <a:r>
              <a:rPr lang="en-IN" b="1" dirty="0"/>
              <a:t>5. Visualization Dashboard</a:t>
            </a:r>
          </a:p>
          <a:p>
            <a:pPr lvl="0"/>
            <a:r>
              <a:rPr lang="en-IN" dirty="0"/>
              <a:t>Intuitive, interactive dashboards show:</a:t>
            </a:r>
          </a:p>
          <a:p>
            <a:pPr lvl="1"/>
            <a:r>
              <a:rPr lang="en-IN" dirty="0"/>
              <a:t>Daily/weekly nutrient intake.</a:t>
            </a:r>
          </a:p>
          <a:p>
            <a:pPr lvl="1"/>
            <a:r>
              <a:rPr lang="en-IN" dirty="0"/>
              <a:t>Deficiency alerts.</a:t>
            </a:r>
          </a:p>
          <a:p>
            <a:pPr lvl="1"/>
            <a:r>
              <a:rPr lang="en-IN" dirty="0"/>
              <a:t>Progress toward fitness or health goals.</a:t>
            </a:r>
          </a:p>
          <a:p>
            <a:pPr lvl="0"/>
            <a:r>
              <a:rPr lang="en-IN" dirty="0"/>
              <a:t>This transforms abstract nutrition data into </a:t>
            </a:r>
            <a:r>
              <a:rPr lang="en-IN" b="1" dirty="0"/>
              <a:t>actionable insights</a:t>
            </a:r>
            <a:r>
              <a:rPr lang="en-IN" dirty="0"/>
              <a:t>.</a:t>
            </a:r>
          </a:p>
          <a:p>
            <a:pPr marL="342900" lvl="0" indent="-342900">
              <a:buFont typeface="Arial" panose="020B0604020202020204" pitchFamily="34" charset="0"/>
              <a:buChar char="•"/>
            </a:pPr>
            <a:endParaRPr lang="en-IN" dirty="0"/>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879DDC-E170-3FBE-7CA5-6CA924FB9804}"/>
              </a:ext>
            </a:extLst>
          </p:cNvPr>
          <p:cNvSpPr txBox="1"/>
          <p:nvPr/>
        </p:nvSpPr>
        <p:spPr>
          <a:xfrm>
            <a:off x="397565" y="437322"/>
            <a:ext cx="8744447" cy="1815882"/>
          </a:xfrm>
          <a:prstGeom prst="rect">
            <a:avLst/>
          </a:prstGeom>
          <a:noFill/>
        </p:spPr>
        <p:txBody>
          <a:bodyPr wrap="square">
            <a:spAutoFit/>
          </a:bodyPr>
          <a:lstStyle/>
          <a:p>
            <a:pPr>
              <a:buNone/>
            </a:pPr>
            <a:r>
              <a:rPr lang="en-IN" b="1" dirty="0"/>
              <a:t>6. Trustworthy Data via RAG</a:t>
            </a:r>
          </a:p>
          <a:p>
            <a:pPr marL="342900" lvl="0" indent="-342900">
              <a:buFont typeface="Arial" panose="020B0604020202020204" pitchFamily="34" charset="0"/>
              <a:buChar char="•"/>
            </a:pPr>
            <a:r>
              <a:rPr lang="en-IN" dirty="0">
                <a:effectLst/>
              </a:rPr>
              <a:t>Uses </a:t>
            </a:r>
            <a:r>
              <a:rPr lang="en-IN" b="1" dirty="0">
                <a:effectLst/>
              </a:rPr>
              <a:t>Retrieval-Augmented Generation (RAG)</a:t>
            </a:r>
            <a:r>
              <a:rPr lang="en-IN" dirty="0">
                <a:effectLst/>
              </a:rPr>
              <a:t> to fetch nutritional values from </a:t>
            </a:r>
            <a:r>
              <a:rPr lang="en-IN" b="1" dirty="0">
                <a:effectLst/>
              </a:rPr>
              <a:t>authoritative sources</a:t>
            </a:r>
            <a:r>
              <a:rPr lang="en-IN" dirty="0">
                <a:effectLst/>
              </a:rPr>
              <a:t> (USDA, WHO, FSSAI).</a:t>
            </a:r>
            <a:endParaRPr lang="en-IN" dirty="0"/>
          </a:p>
          <a:p>
            <a:pPr marL="342900" lvl="0" indent="-342900">
              <a:buFont typeface="Arial" panose="020B0604020202020204" pitchFamily="34" charset="0"/>
              <a:buChar char="•"/>
            </a:pPr>
            <a:r>
              <a:rPr lang="en-IN" dirty="0">
                <a:effectLst/>
              </a:rPr>
              <a:t>Eliminates misinformation by grounding recommendations in </a:t>
            </a:r>
            <a:r>
              <a:rPr lang="en-IN" b="1" dirty="0">
                <a:effectLst/>
              </a:rPr>
              <a:t>verified data</a:t>
            </a:r>
            <a:r>
              <a:rPr lang="en-IN" dirty="0">
                <a:effectLst/>
              </a:rPr>
              <a:t>.</a:t>
            </a:r>
            <a:endParaRPr lang="en-IN" dirty="0"/>
          </a:p>
          <a:p>
            <a:pPr>
              <a:buNone/>
            </a:pPr>
            <a:r>
              <a:rPr lang="en-IN" b="1" dirty="0"/>
              <a:t>7. Holistic Ecosystem</a:t>
            </a:r>
          </a:p>
          <a:p>
            <a:pPr marL="342900" lvl="0" indent="-342900">
              <a:buFont typeface="Arial" panose="020B0604020202020204" pitchFamily="34" charset="0"/>
              <a:buChar char="•"/>
            </a:pPr>
            <a:r>
              <a:rPr lang="en-IN" dirty="0">
                <a:effectLst/>
              </a:rPr>
              <a:t>Serves </a:t>
            </a:r>
            <a:r>
              <a:rPr lang="en-IN" b="1" dirty="0">
                <a:effectLst/>
              </a:rPr>
              <a:t>individuals, families, and health professionals</a:t>
            </a:r>
            <a:r>
              <a:rPr lang="en-IN" dirty="0">
                <a:effectLst/>
              </a:rPr>
              <a:t> alike.</a:t>
            </a:r>
            <a:endParaRPr lang="en-IN" dirty="0"/>
          </a:p>
          <a:p>
            <a:pPr marL="342900" lvl="0" indent="-342900">
              <a:buFont typeface="Arial" panose="020B0604020202020204" pitchFamily="34" charset="0"/>
              <a:buChar char="•"/>
            </a:pPr>
            <a:r>
              <a:rPr lang="en-IN" dirty="0">
                <a:effectLst/>
              </a:rPr>
              <a:t>Can integrate with </a:t>
            </a:r>
            <a:r>
              <a:rPr lang="en-IN" b="1" dirty="0">
                <a:effectLst/>
              </a:rPr>
              <a:t>fitness trackers, wearables, and health apps</a:t>
            </a:r>
            <a:r>
              <a:rPr lang="en-IN" dirty="0">
                <a:effectLst/>
              </a:rPr>
              <a:t>, making it a </a:t>
            </a:r>
            <a:r>
              <a:rPr lang="en-IN" b="1" dirty="0">
                <a:effectLst/>
              </a:rPr>
              <a:t>complete nutrition management platform</a:t>
            </a:r>
            <a:r>
              <a:rPr lang="en-IN" dirty="0">
                <a:effectLst/>
              </a:rPr>
              <a:t>.</a:t>
            </a:r>
            <a:endParaRPr lang="en-IN" dirty="0"/>
          </a:p>
        </p:txBody>
      </p:sp>
    </p:spTree>
    <p:extLst>
      <p:ext uri="{BB962C8B-B14F-4D97-AF65-F5344CB8AC3E}">
        <p14:creationId xmlns:p14="http://schemas.microsoft.com/office/powerpoint/2010/main" val="1331605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11277" y="484632"/>
            <a:ext cx="7389139"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4D64937E-C9AD-3FA1-53E2-2ECBF2E4909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71D9F5B-66BF-4840-40E0-2713F56C5E64}"/>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1231BA06-8686-7E6D-BCEC-6F33D9928770}"/>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62824FC8-468E-9721-80FC-A47F7498A5E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7824849-EE7D-AFB8-0509-308E6B45F8A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3101CCF1-C200-0AAD-AC73-FC772B0983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3899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https://github.com/Binitshaw21/Nutrion-Agent.git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Skills build profile screen shot</a:t>
            </a:r>
          </a:p>
          <a:p>
            <a:pPr algn="ctr"/>
            <a:endParaRPr lang="en-US" dirty="0"/>
          </a:p>
        </p:txBody>
      </p:sp>
      <p:pic>
        <p:nvPicPr>
          <p:cNvPr id="3" name="Picture 2">
            <a:extLst>
              <a:ext uri="{FF2B5EF4-FFF2-40B4-BE49-F238E27FC236}">
                <a16:creationId xmlns:a16="http://schemas.microsoft.com/office/drawing/2014/main" id="{8B7150CE-6089-4272-E2A0-1C3CC274D83D}"/>
              </a:ext>
            </a:extLst>
          </p:cNvPr>
          <p:cNvPicPr>
            <a:picLocks noChangeAspect="1"/>
          </p:cNvPicPr>
          <p:nvPr/>
        </p:nvPicPr>
        <p:blipFill>
          <a:blip r:embed="rId2"/>
          <a:stretch>
            <a:fillRect/>
          </a:stretch>
        </p:blipFill>
        <p:spPr>
          <a:xfrm>
            <a:off x="609599" y="884488"/>
            <a:ext cx="10972801" cy="5973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AB062-BFE8-81E7-7937-7FF058CAE3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244D29-5E1E-8A40-F4D0-25314C4B736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72F5D597-02A1-615E-08C1-B7E75280E4A4}"/>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dirty="0"/>
          </a:p>
        </p:txBody>
      </p:sp>
      <p:pic>
        <p:nvPicPr>
          <p:cNvPr id="4" name="Picture 3">
            <a:extLst>
              <a:ext uri="{FF2B5EF4-FFF2-40B4-BE49-F238E27FC236}">
                <a16:creationId xmlns:a16="http://schemas.microsoft.com/office/drawing/2014/main" id="{17D40844-B0ED-7F25-2E34-A9264541AA8F}"/>
              </a:ext>
            </a:extLst>
          </p:cNvPr>
          <p:cNvPicPr>
            <a:picLocks noChangeAspect="1"/>
          </p:cNvPicPr>
          <p:nvPr/>
        </p:nvPicPr>
        <p:blipFill>
          <a:blip r:embed="rId2"/>
          <a:stretch>
            <a:fillRect/>
          </a:stretch>
        </p:blipFill>
        <p:spPr>
          <a:xfrm>
            <a:off x="0" y="1208598"/>
            <a:ext cx="12192000" cy="5635054"/>
          </a:xfrm>
          <a:prstGeom prst="rect">
            <a:avLst/>
          </a:prstGeom>
        </p:spPr>
      </p:pic>
    </p:spTree>
    <p:extLst>
      <p:ext uri="{BB962C8B-B14F-4D97-AF65-F5344CB8AC3E}">
        <p14:creationId xmlns:p14="http://schemas.microsoft.com/office/powerpoint/2010/main" val="2018804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13ACDD17-1810-F963-8861-9E252A4DB5B1}"/>
              </a:ext>
            </a:extLst>
          </p:cNvPr>
          <p:cNvPicPr>
            <a:picLocks noChangeAspect="1"/>
          </p:cNvPicPr>
          <p:nvPr/>
        </p:nvPicPr>
        <p:blipFill>
          <a:blip r:embed="rId2"/>
          <a:stretch>
            <a:fillRect/>
          </a:stretch>
        </p:blipFill>
        <p:spPr>
          <a:xfrm>
            <a:off x="1020640" y="1073425"/>
            <a:ext cx="10150720" cy="557530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1717</Words>
  <Application>Microsoft Office PowerPoint</Application>
  <PresentationFormat>Widescreen</PresentationFormat>
  <Paragraphs>183</Paragraphs>
  <Slides>27</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IBM Bob Gujarat State level Hackathon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BINIT SHAW</cp:lastModifiedBy>
  <cp:revision>5</cp:revision>
  <dcterms:created xsi:type="dcterms:W3CDTF">2025-07-08T05:06:56Z</dcterms:created>
  <dcterms:modified xsi:type="dcterms:W3CDTF">2026-09-11T18:07:23Z</dcterms:modified>
</cp:coreProperties>
</file>